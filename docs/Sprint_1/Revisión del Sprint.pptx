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840" r:id="rId9"/>
  </p:sldMasterIdLst>
  <p:notesMasterIdLst>
    <p:notesMasterId r:id="rId12"/>
  </p:notesMasterIdLst>
  <p:sldIdLst>
    <p:sldId id="266" r:id="rId10"/>
    <p:sldId id="271" r:id="rId11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108" d="100"/>
          <a:sy n="108" d="100"/>
        </p:scale>
        <p:origin x="1704" y="-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04/17/2026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0547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37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0269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6594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1295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4156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025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134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5478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F0DD0-2A6F-4F79-890C-FFB39C5316A3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1082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D6FD3-7618-407B-9AD1-F22D2D250FF2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5357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85AEE-FEBA-4707-9A7F-B8CF33FA2E44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716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DBA2-4164-48AA-BE36-C02775701CCE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6230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A62D7-2A52-40FE-9D68-7AA14F989445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9180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A9BF-74C6-453E-9062-D3583FAE2170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6809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7651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04/17/2026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65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156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>
                <a:solidFill>
                  <a:prstClr val="white"/>
                </a:solidFill>
              </a:rPr>
              <a:t>REUNION DE DEMOSTRACIÓN Y</a:t>
            </a:r>
          </a:p>
          <a:p>
            <a:pPr algn="ctr"/>
            <a:r>
              <a:rPr lang="es-PA" sz="2800" b="1" dirty="0">
                <a:solidFill>
                  <a:prstClr val="white"/>
                </a:solidFill>
              </a:rPr>
              <a:t>REVISION DEL SPRINT 1</a:t>
            </a:r>
            <a:endParaRPr lang="en-US" sz="2800" b="1" dirty="0">
              <a:solidFill>
                <a:prstClr val="white"/>
              </a:solidFill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1561802" y="2636912"/>
            <a:ext cx="60203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dirty="0" err="1"/>
              <a:t>Planner</a:t>
            </a:r>
            <a:r>
              <a:rPr lang="es-MX" sz="2800" dirty="0"/>
              <a:t> UC – Sistema de Generación Óptima de Horarios Académicos</a:t>
            </a:r>
          </a:p>
          <a:p>
            <a:pPr algn="ctr"/>
            <a:endParaRPr lang="es-MX" sz="2800" b="1" dirty="0">
              <a:solidFill>
                <a:prstClr val="white"/>
              </a:solidFill>
            </a:endParaRPr>
          </a:p>
          <a:p>
            <a:pPr algn="ctr"/>
            <a:r>
              <a:rPr lang="es-PA" sz="2800" b="1" dirty="0">
                <a:solidFill>
                  <a:prstClr val="white"/>
                </a:solidFill>
              </a:rPr>
              <a:t>17/04/2026</a:t>
            </a:r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48" y="476672"/>
            <a:ext cx="763284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Historias de Usuario completadas en este 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PA" sz="2000" dirty="0"/>
          </a:p>
          <a:p>
            <a:endParaRPr lang="es-PA" sz="2000" dirty="0"/>
          </a:p>
          <a:p>
            <a:endParaRPr lang="es-PA" sz="2000" dirty="0"/>
          </a:p>
          <a:p>
            <a:endParaRPr lang="es-PA" sz="2000" dirty="0"/>
          </a:p>
          <a:p>
            <a:endParaRPr lang="es-PA" sz="2000" dirty="0"/>
          </a:p>
          <a:p>
            <a:endParaRPr lang="es-P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Demostración del trabajo completado</a:t>
            </a:r>
          </a:p>
          <a:p>
            <a:r>
              <a:rPr lang="es-MX" sz="1600" dirty="0">
                <a:solidFill>
                  <a:schemeClr val="bg1"/>
                </a:solidFill>
              </a:rPr>
              <a:t>Durante la reunión se realizó la demostración funcional de los siguientes componentes implementados en el Sprint 1:</a:t>
            </a:r>
          </a:p>
          <a:p>
            <a:endParaRPr lang="es-MX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Inicio de sesión con credenciales válidas, redirigiendo correctamente al </a:t>
            </a:r>
            <a:r>
              <a:rPr lang="es-MX" sz="1600" dirty="0" err="1">
                <a:solidFill>
                  <a:schemeClr val="bg1"/>
                </a:solidFill>
              </a:rPr>
              <a:t>dashboard</a:t>
            </a:r>
            <a:r>
              <a:rPr lang="es-MX" sz="1600" dirty="0">
                <a:solidFill>
                  <a:schemeClr val="bg1"/>
                </a:solidFill>
              </a:rPr>
              <a:t> según el rol del usuario.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Manejo de errores en autenticación, retornando HTTP 401 ante credenciales inválidas.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Cierre de sesión (</a:t>
            </a:r>
            <a:r>
              <a:rPr lang="es-MX" sz="1600" dirty="0" err="1">
                <a:solidFill>
                  <a:schemeClr val="bg1"/>
                </a:solidFill>
              </a:rPr>
              <a:t>logout</a:t>
            </a:r>
            <a:r>
              <a:rPr lang="es-MX" sz="1600" dirty="0">
                <a:solidFill>
                  <a:schemeClr val="bg1"/>
                </a:solidFill>
              </a:rPr>
              <a:t>) con invalidación del token activo.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Validación de acceso por roles, restringiendo funcionalidades no autorizadas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1"/>
                </a:solidFill>
              </a:rPr>
              <a:t>Implementación de medidas de seguridad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D7D7803-6AD6-1004-0B8A-8D2403C8E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809427"/>
              </p:ext>
            </p:extLst>
          </p:nvPr>
        </p:nvGraphicFramePr>
        <p:xfrm>
          <a:off x="755576" y="1340768"/>
          <a:ext cx="7128792" cy="16445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0831">
                  <a:extLst>
                    <a:ext uri="{9D8B030D-6E8A-4147-A177-3AD203B41FA5}">
                      <a16:colId xmlns:a16="http://schemas.microsoft.com/office/drawing/2014/main" val="1889275943"/>
                    </a:ext>
                  </a:extLst>
                </a:gridCol>
                <a:gridCol w="1008357">
                  <a:extLst>
                    <a:ext uri="{9D8B030D-6E8A-4147-A177-3AD203B41FA5}">
                      <a16:colId xmlns:a16="http://schemas.microsoft.com/office/drawing/2014/main" val="1139543233"/>
                    </a:ext>
                  </a:extLst>
                </a:gridCol>
                <a:gridCol w="3044462">
                  <a:extLst>
                    <a:ext uri="{9D8B030D-6E8A-4147-A177-3AD203B41FA5}">
                      <a16:colId xmlns:a16="http://schemas.microsoft.com/office/drawing/2014/main" val="298634641"/>
                    </a:ext>
                  </a:extLst>
                </a:gridCol>
                <a:gridCol w="2465142">
                  <a:extLst>
                    <a:ext uri="{9D8B030D-6E8A-4147-A177-3AD203B41FA5}">
                      <a16:colId xmlns:a16="http://schemas.microsoft.com/office/drawing/2014/main" val="3525132825"/>
                    </a:ext>
                  </a:extLst>
                </a:gridCol>
              </a:tblGrid>
              <a:tr h="135139">
                <a:tc gridSpan="4">
                  <a:txBody>
                    <a:bodyPr/>
                    <a:lstStyle/>
                    <a:p>
                      <a:pPr algn="ctr" fontAlgn="t"/>
                      <a:r>
                        <a:rPr lang="es-PE" sz="700" u="none" strike="noStrike">
                          <a:effectLst/>
                        </a:rPr>
                        <a:t>HISTORIA DE USUARIO</a:t>
                      </a:r>
                      <a:endParaRPr lang="es-PE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238120"/>
                  </a:ext>
                </a:extLst>
              </a:tr>
              <a:tr h="254378">
                <a:tc>
                  <a:txBody>
                    <a:bodyPr/>
                    <a:lstStyle/>
                    <a:p>
                      <a:pPr algn="ctr" fontAlgn="t"/>
                      <a:r>
                        <a:rPr lang="es-PE" sz="700" u="none" strike="noStrike">
                          <a:effectLst/>
                        </a:rPr>
                        <a:t>ID Historia de Usuario</a:t>
                      </a:r>
                      <a:endParaRPr lang="es-PE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PE" sz="700" u="none" strike="noStrike">
                          <a:effectLst/>
                        </a:rPr>
                        <a:t>Como (Rol)</a:t>
                      </a:r>
                      <a:endParaRPr lang="es-PE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PE" sz="700" u="none" strike="noStrike">
                          <a:effectLst/>
                        </a:rPr>
                        <a:t>Deseo…</a:t>
                      </a:r>
                      <a:endParaRPr lang="es-PE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s-PE" sz="700" u="none" strike="noStrike">
                          <a:effectLst/>
                        </a:rPr>
                        <a:t>Para…</a:t>
                      </a:r>
                      <a:endParaRPr lang="es-PE" sz="7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502039"/>
                  </a:ext>
                </a:extLst>
              </a:tr>
              <a:tr h="619099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u="none" strike="noStrike">
                          <a:effectLst/>
                        </a:rPr>
                        <a:t>HU01</a:t>
                      </a:r>
                      <a:endParaRPr lang="es-PE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u="none" strike="noStrike">
                          <a:effectLst/>
                        </a:rPr>
                        <a:t>Usuario del sistema (Administrador, Coordinador, Docente o Estudiante)</a:t>
                      </a:r>
                      <a:endParaRPr lang="es-PE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u="none" strike="noStrike" dirty="0">
                          <a:effectLst/>
                        </a:rPr>
                        <a:t>iniciar sesión con mis credenciales y cerrar sesión de forma segura</a:t>
                      </a:r>
                      <a:endParaRPr lang="es-MX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u="none" strike="noStrike">
                          <a:effectLst/>
                        </a:rPr>
                        <a:t>acceder al sistema con mi identidad verificada y proteger mi información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6261206"/>
                  </a:ext>
                </a:extLst>
              </a:tr>
              <a:tr h="254378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u="none" strike="noStrike">
                          <a:effectLst/>
                        </a:rPr>
                        <a:t>HU02</a:t>
                      </a:r>
                      <a:endParaRPr lang="es-PE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u="none" strike="noStrike">
                          <a:effectLst/>
                        </a:rPr>
                        <a:t>Sistema</a:t>
                      </a:r>
                      <a:endParaRPr lang="es-PE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u="none" strike="noStrike">
                          <a:effectLst/>
                        </a:rPr>
                        <a:t>restringir el acceso a funcionalidades y datos según el rol autenticado del usuario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u="none" strike="noStrike">
                          <a:effectLst/>
                        </a:rPr>
                        <a:t>garantizar que ningún actor acceda a operaciones fuera de su ámbito de responsabilidad</a:t>
                      </a:r>
                      <a:endParaRPr lang="es-MX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416488"/>
                  </a:ext>
                </a:extLst>
              </a:tr>
              <a:tr h="381567"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u="none" strike="noStrike">
                          <a:effectLst/>
                        </a:rPr>
                        <a:t>HU03</a:t>
                      </a:r>
                      <a:endParaRPr lang="es-PE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PE" sz="700" u="none" strike="noStrike">
                          <a:effectLst/>
                        </a:rPr>
                        <a:t>Sistema</a:t>
                      </a:r>
                      <a:endParaRPr lang="es-PE" sz="7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u="none" strike="noStrike" dirty="0">
                          <a:effectLst/>
                        </a:rPr>
                        <a:t>proteger los datos académicos y personales contra las vulnerabilidades más comunes del OWASP Top 10 aplicables al proyecto</a:t>
                      </a:r>
                      <a:endParaRPr lang="es-MX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MX" sz="700" u="none" strike="noStrike" dirty="0">
                          <a:effectLst/>
                        </a:rPr>
                        <a:t>garantizar la confidencialidad e integridad de la información del sistema</a:t>
                      </a:r>
                      <a:endParaRPr lang="es-MX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0529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FWJASSSE55TN-275-89</_dlc_DocId>
    <_dlc_DocIdUrl xmlns="01eb4bd6-a8ff-4439-b7eb-fe0a650fbd8a">
      <Url>https://portal.smrey.net/areas/it/_layouts/15/DocIdRedir.aspx?ID=FWJASSSE55TN-275-89</Url>
      <Description>FWJASSSE55TN-275-89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829AFC-3782-4D2D-8542-5E6C64387F0D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360382EE-287C-4A6D-BC9A-747A508B6B29}">
  <ds:schemaRefs>
    <ds:schemaRef ds:uri="01eb4bd6-a8ff-4439-b7eb-fe0a650fbd8a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9CA153A-738A-46A0-99D9-95D181851B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A7CCABAD-9D4B-42FB-80F1-5D032DA057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9271</TotalTime>
  <Words>215</Words>
  <Application>Microsoft Office PowerPoint</Application>
  <PresentationFormat>Presentación en pantalla (4:3)</PresentationFormat>
  <Paragraphs>39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Arial</vt:lpstr>
      <vt:lpstr>Calibri</vt:lpstr>
      <vt:lpstr>Calibri Light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Ion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Jhann Pier Tapia De la cruz</cp:lastModifiedBy>
  <cp:revision>254</cp:revision>
  <dcterms:created xsi:type="dcterms:W3CDTF">2012-03-27T19:44:46Z</dcterms:created>
  <dcterms:modified xsi:type="dcterms:W3CDTF">2026-04-18T02:28:15Z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ad5b9eb1-3f56-4f57-9c5a-78d9eb8422d9</vt:lpwstr>
  </property>
</Properties>
</file>