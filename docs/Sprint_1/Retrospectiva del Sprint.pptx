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62" r:id="rId9"/>
  </p:sldMasterIdLst>
  <p:notesMasterIdLst>
    <p:notesMasterId r:id="rId15"/>
  </p:notesMasterIdLst>
  <p:sldIdLst>
    <p:sldId id="266" r:id="rId10"/>
    <p:sldId id="271" r:id="rId11"/>
    <p:sldId id="273" r:id="rId12"/>
    <p:sldId id="274" r:id="rId13"/>
    <p:sldId id="275" r:id="rId14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108" d="100"/>
          <a:sy n="108" d="100"/>
        </p:scale>
        <p:origin x="1704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04/17/2026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1498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25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06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873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41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393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033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528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189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814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40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15629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238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745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668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342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87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34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561802" y="1196752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>
                <a:solidFill>
                  <a:prstClr val="white"/>
                </a:solidFill>
              </a:rPr>
              <a:t>RETROSPECTIVA DEL SPRINT 1</a:t>
            </a:r>
            <a:endParaRPr lang="en-US" sz="2800" b="1" dirty="0">
              <a:solidFill>
                <a:prstClr val="white"/>
              </a:solidFill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561802" y="2521059"/>
            <a:ext cx="60203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 err="1">
                <a:solidFill>
                  <a:prstClr val="white"/>
                </a:solidFill>
              </a:rPr>
              <a:t>Planner</a:t>
            </a:r>
            <a:r>
              <a:rPr lang="es-MX" sz="2800" b="1" dirty="0">
                <a:solidFill>
                  <a:prstClr val="white"/>
                </a:solidFill>
              </a:rPr>
              <a:t> UC – Sistema de Generación Óptima de Horarios Académicos</a:t>
            </a:r>
          </a:p>
          <a:p>
            <a:pPr algn="ctr"/>
            <a:r>
              <a:rPr lang="es-PA" sz="2800" b="1" dirty="0">
                <a:solidFill>
                  <a:prstClr val="white"/>
                </a:solidFill>
              </a:rPr>
              <a:t>17/04/2026</a:t>
            </a:r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548680"/>
            <a:ext cx="7344816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r>
              <a:rPr lang="es-PA" sz="2000" dirty="0"/>
              <a:t>Qué aprendimos?</a:t>
            </a:r>
          </a:p>
          <a:p>
            <a:endParaRPr lang="es-P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 implementación de autenticación con JWT requiere una correcta gestión de expiración y validación de tokens para evitar errores en producción.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 importancia de aplicar seguridad desde el inicio (OWASP: SQL </a:t>
            </a:r>
            <a:r>
              <a:rPr lang="es-MX" dirty="0" err="1">
                <a:solidFill>
                  <a:schemeClr val="bg1"/>
                </a:solidFill>
              </a:rPr>
              <a:t>Injection</a:t>
            </a:r>
            <a:r>
              <a:rPr lang="es-MX" dirty="0">
                <a:solidFill>
                  <a:schemeClr val="bg1"/>
                </a:solidFill>
              </a:rPr>
              <a:t>, XSS, CSRF) para evitar retrabajos en etapas posteriores.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 necesidad de una buena coordinación del equipo ante cambios inesperados, como la salida de un integrante.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 validación temprana mediante pruebas permite detectar errores rápidamente y mejorar la calidad del sistema.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</a:rPr>
              <a:t>La planificación ágil permite adaptarse rápidamente a cambios sin afectar los objetivos del sprint.</a:t>
            </a:r>
            <a:endParaRPr lang="es-PA" dirty="0">
              <a:solidFill>
                <a:schemeClr val="bg1"/>
              </a:solidFill>
            </a:endParaRPr>
          </a:p>
          <a:p>
            <a:endParaRPr lang="es-PA" sz="2000" dirty="0"/>
          </a:p>
          <a:p>
            <a:endParaRPr lang="es-PA" sz="2000" dirty="0"/>
          </a:p>
          <a:p>
            <a:endParaRPr lang="es-PA" sz="2000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727280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000" dirty="0"/>
              <a:t>Qué estamos haciendo bien?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Se cumplió el 100% de las historias de usuario del Sprint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El sprint fue finalizado antes de lo planificado, demostrando buena gestión del tiempo.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Se estableció correctamente la base de seguridad del sistema (autenticación, autorización y protección de datos).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Buena comunicación y coordinación del equipo durante el desarrollo.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Resolución rápida de impedimentos sin afectar el cronograma.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Implementación de pruebas básicas para validar funcionalidades críticas.</a:t>
            </a:r>
            <a:endParaRPr lang="es-P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260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332656"/>
            <a:ext cx="734481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000" dirty="0"/>
              <a:t>Qué podemos hacer mejor?</a:t>
            </a:r>
          </a:p>
          <a:p>
            <a:endParaRPr lang="es-PA" sz="2000" dirty="0"/>
          </a:p>
          <a:p>
            <a:r>
              <a:rPr lang="es-MX" sz="2000" dirty="0">
                <a:solidFill>
                  <a:schemeClr val="bg1"/>
                </a:solidFill>
              </a:rPr>
              <a:t>Mejorar la distribución de tareas para evitar sobrecarga en un solo integrante, así como también documentar mejor algunas decisiones técnicas tomadas durante el sprint e incrementar la cobertura de pruebas desde etapas tempranas. Anticipar posibles riesgos organizacionales (como cambios en el equipo).</a:t>
            </a:r>
            <a:endParaRPr lang="es-PA" sz="2000" dirty="0">
              <a:solidFill>
                <a:schemeClr val="bg1"/>
              </a:solidFill>
            </a:endParaRPr>
          </a:p>
          <a:p>
            <a:endParaRPr lang="es-P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Personas</a:t>
            </a:r>
          </a:p>
          <a:p>
            <a:pPr lvl="1"/>
            <a:r>
              <a:rPr lang="es-PA" sz="2000" dirty="0">
                <a:solidFill>
                  <a:schemeClr val="bg1"/>
                </a:solidFill>
              </a:rPr>
              <a:t>Mejorar la adaptabilidad del equipo ante cambios de roles y fomentar mayor intercambio de conocimientos entre los integrantes</a:t>
            </a:r>
          </a:p>
          <a:p>
            <a:pPr lvl="1"/>
            <a:endParaRPr lang="es-P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Relaciones</a:t>
            </a:r>
          </a:p>
          <a:p>
            <a:pPr lvl="1"/>
            <a:r>
              <a:rPr lang="es-PA" sz="2000" dirty="0">
                <a:solidFill>
                  <a:schemeClr val="bg1"/>
                </a:solidFill>
              </a:rPr>
              <a:t>Mantener comunicación constante entre los miembros y reforzar la colaboración de tareas criticas</a:t>
            </a:r>
          </a:p>
        </p:txBody>
      </p:sp>
    </p:spTree>
    <p:extLst>
      <p:ext uri="{BB962C8B-B14F-4D97-AF65-F5344CB8AC3E}">
        <p14:creationId xmlns:p14="http://schemas.microsoft.com/office/powerpoint/2010/main" val="2607380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72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Procesos</a:t>
            </a:r>
          </a:p>
          <a:p>
            <a:pPr lvl="1"/>
            <a:r>
              <a:rPr lang="es-PA" sz="2000" dirty="0">
                <a:solidFill>
                  <a:schemeClr val="bg1"/>
                </a:solidFill>
              </a:rPr>
              <a:t>Refinar mejor las historias de usuario antes de iniciar el sprint.</a:t>
            </a:r>
          </a:p>
          <a:p>
            <a:pPr lvl="1"/>
            <a:endParaRPr lang="es-PA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Herramientas</a:t>
            </a:r>
          </a:p>
          <a:p>
            <a:pPr lvl="1"/>
            <a:r>
              <a:rPr lang="es-PA" sz="2000" dirty="0">
                <a:solidFill>
                  <a:schemeClr val="bg1"/>
                </a:solidFill>
              </a:rPr>
              <a:t>Mejorar el uso de control de versiones de </a:t>
            </a:r>
            <a:r>
              <a:rPr lang="es-PA" sz="2000" dirty="0" err="1">
                <a:solidFill>
                  <a:schemeClr val="bg1"/>
                </a:solidFill>
              </a:rPr>
              <a:t>git</a:t>
            </a:r>
            <a:r>
              <a:rPr lang="es-PA" sz="2000" dirty="0">
                <a:solidFill>
                  <a:schemeClr val="bg1"/>
                </a:solidFill>
              </a:rPr>
              <a:t> para evitar conflictos.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02FCA4D-6742-A13A-A5AB-4E422E7B643D}"/>
              </a:ext>
            </a:extLst>
          </p:cNvPr>
          <p:cNvSpPr txBox="1"/>
          <p:nvPr/>
        </p:nvSpPr>
        <p:spPr>
          <a:xfrm>
            <a:off x="683568" y="4077072"/>
            <a:ext cx="73448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000" dirty="0"/>
              <a:t>Acciones a realizar</a:t>
            </a:r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solidFill>
                  <a:schemeClr val="bg1"/>
                </a:solidFill>
              </a:rPr>
              <a:t>Documentar decisiones técnicas relevantes existentes durante el sprint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Establecer reuniones cortas de seguimiento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000" dirty="0">
                <a:solidFill>
                  <a:schemeClr val="bg1"/>
                </a:solidFill>
              </a:rPr>
              <a:t>Redistribuir carga de trabajo tras futuros cambios en el equipo</a:t>
            </a:r>
            <a:endParaRPr lang="es-P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821861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Props1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9260</TotalTime>
  <Words>335</Words>
  <Application>Microsoft Office PowerPoint</Application>
  <PresentationFormat>Presentación en pantalla (4:3)</PresentationFormat>
  <Paragraphs>45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Jhann Pier Tapia De la cruz</cp:lastModifiedBy>
  <cp:revision>255</cp:revision>
  <dcterms:created xsi:type="dcterms:W3CDTF">2012-03-27T19:44:46Z</dcterms:created>
  <dcterms:modified xsi:type="dcterms:W3CDTF">2026-04-18T02:13:24Z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